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Cover image generated for this presentation. Course context: Digital Design &amp; Computer Architecture, supplied Module 2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Course linkage based on supplied Module 2 Combinational &amp; K-Maps slides: a combinational circuit output depends on present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problem statement formulated for this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Objectives align with LDR, sensor, logic gate, and output switching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Existing-system comparison uses general, well-established approaches. Course source: supplied Module 2 content on combinational circuits and input-selected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Logic expression based on basic AND-gate combinational logic discussed in the supplied Module 2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Block diagram created for this project. The LDR/comparator converts an analogue light level to a digital logic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Implementation applies combinational logic from supplied Module 2 course materials. Safety note: use a properly rated isolated driver for a mains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Truth table is derived from L = D AND M. It provides expected results; physical prototype measurements should be added after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Conclusion based on the proposed design and expected truth-table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83F6C2D-69CF-46B1-BB66-036D562031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858000" cy="6858000"/>
          </a:xfrm>
          <a:prstGeom prst="rect">
            <a:avLst/>
          </a:prstGeom>
          <a:ln w="0">
            <a:noFill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440053-F4B0-4F28-A0FE-9DE7737D87E3}"/>
              </a:ext>
            </a:extLst>
          </p:cNvPr>
          <p:cNvSpPr>
            <a:spLocks noGrp="1"/>
          </p:cNvSpPr>
          <p:nvPr/>
        </p:nvSpPr>
        <p:spPr>
          <a:xfrm>
            <a:off x="514350" y="742950"/>
            <a:ext cx="76200" cy="1200150"/>
          </a:xfrm>
          <a:prstGeom prst="rect">
            <a:avLst/>
          </a:prstGeom>
          <a:solidFill>
            <a:srgbClr val="F3B33D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1AEBDB-B42C-4428-BA2B-E0DCBE243B11}"/>
              </a:ext>
            </a:extLst>
          </p:cNvPr>
          <p:cNvSpPr>
            <a:spLocks noGrp="1"/>
          </p:cNvSpPr>
          <p:nvPr/>
        </p:nvSpPr>
        <p:spPr>
          <a:xfrm>
            <a:off x="838200" y="762000"/>
            <a:ext cx="5429250" cy="1809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AUTOMATED</a:t>
            </a:r>
          </a:p>
          <a:p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STREETLIGHT</a:t>
            </a:r>
          </a:p>
          <a:p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 SYSTEM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7FA082-024F-43CC-8E64-5D8072A5546F}"/>
              </a:ext>
            </a:extLst>
          </p:cNvPr>
          <p:cNvSpPr>
            <a:spLocks noGrp="1"/>
          </p:cNvSpPr>
          <p:nvPr/>
        </p:nvSpPr>
        <p:spPr>
          <a:xfrm>
            <a:off x="857250" y="2781300"/>
            <a:ext cx="3810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0">
                <a:solidFill>
                  <a:srgbClr val="C9E7F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9E7F8"/>
                </a:solidFill>
                <a:latin typeface="Aptos"/>
                <a:ea typeface="Aptos"/>
                <a:cs typeface="Aptos"/>
              </a:rPr>
              <a:t>Mini Project Presentation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424410-391A-499B-B549-961C559500B7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5048250" cy="9525"/>
          </a:xfrm>
          <a:prstGeom prst="rect">
            <a:avLst/>
          </a:prstGeom>
          <a:solidFill>
            <a:srgbClr val="7191AC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3367205-530C-424A-B9C5-3B716784AB01}"/>
              </a:ext>
            </a:extLst>
          </p:cNvPr>
          <p:cNvSpPr>
            <a:spLocks noGrp="1"/>
          </p:cNvSpPr>
          <p:nvPr/>
        </p:nvSpPr>
        <p:spPr>
          <a:xfrm>
            <a:off x="857250" y="3524250"/>
            <a:ext cx="4000500" cy="1257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2620040081  Mohith</a:t>
            </a:r>
          </a:p>
          <a:p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2620040083  Santhosh</a:t>
            </a:r>
          </a:p>
          <a:p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2620040157  Jaideep</a:t>
            </a:r>
          </a:p>
          <a:p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2620040178  Anudeepika</a:t>
            </a:r>
          </a:p>
          <a:p>
            <a:pPr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2620040179  Srivani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4D3F59-B937-4EB4-A85D-7B33E36A1203}"/>
              </a:ext>
            </a:extLst>
          </p:cNvPr>
          <p:cNvSpPr>
            <a:spLocks noGrp="1"/>
          </p:cNvSpPr>
          <p:nvPr/>
        </p:nvSpPr>
        <p:spPr>
          <a:xfrm>
            <a:off x="857250" y="5257800"/>
            <a:ext cx="476250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00" b="0">
                <a:solidFill>
                  <a:srgbClr val="D8E5E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5EF"/>
                </a:solidFill>
                <a:latin typeface="Aptos"/>
                <a:ea typeface="Aptos"/>
                <a:cs typeface="Aptos"/>
              </a:rPr>
              <a:t>Department of ECE</a:t>
            </a:r>
          </a:p>
          <a:p>
            <a:pPr>
              <a:defRPr sz="1200" b="0">
                <a:solidFill>
                  <a:srgbClr val="D8E5E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5EF"/>
                </a:solidFill>
                <a:latin typeface="Aptos"/>
                <a:ea typeface="Aptos"/>
                <a:cs typeface="Aptos"/>
              </a:rPr>
              <a:t>Guide: To be added  |  College: To be added</a:t>
            </a:r>
          </a:p>
          <a:p>
            <a:pPr>
              <a:defRPr sz="1200" b="0">
                <a:solidFill>
                  <a:srgbClr val="D8E5E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8E5EF"/>
                </a:solidFill>
                <a:latin typeface="Aptos"/>
                <a:ea typeface="Aptos"/>
                <a:cs typeface="Aptos"/>
              </a:rPr>
              <a:t>Academic Year: 2026–27</a:t>
            </a:r>
          </a:p>
        </p:txBody>
      </p:sp>
    </p:spTree>
    <p:extLst>
      <p:ext uri="{BB962C8B-B14F-4D97-AF65-F5344CB8AC3E}">
        <p14:creationId xmlns:p14="http://schemas.microsoft.com/office/powerpoint/2010/main" val="1234750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6EC62E9-FBF6-401B-A610-A273534B7517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048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Introduction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D9410E-9E60-4B58-B3E4-484231563937}"/>
              </a:ext>
            </a:extLst>
          </p:cNvPr>
          <p:cNvSpPr>
            <a:spLocks noGrp="1"/>
          </p:cNvSpPr>
          <p:nvPr/>
        </p:nvSpPr>
        <p:spPr>
          <a:xfrm>
            <a:off x="11049000" y="457200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B69477-470D-4020-98D1-AA23910B90F5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38100"/>
          </a:xfrm>
          <a:prstGeom prst="rect">
            <a:avLst/>
          </a:prstGeom>
          <a:solidFill>
            <a:srgbClr val="F3B33D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9963D1-3DB1-4553-9274-7CF36B323721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6667500" cy="876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Streetlights consume electricity for long hours. A local controller can respond to darkness and road activity instead of relying only on manual switching.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2DA771-0C71-41D7-AF91-D4A05696F6CB}"/>
              </a:ext>
            </a:extLst>
          </p:cNvPr>
          <p:cNvSpPr>
            <a:spLocks noGrp="1"/>
          </p:cNvSpPr>
          <p:nvPr/>
        </p:nvSpPr>
        <p:spPr>
          <a:xfrm>
            <a:off x="7905750" y="1381125"/>
            <a:ext cx="2857500" cy="2857500"/>
          </a:xfrm>
          <a:prstGeom prst="roundRect">
            <a:avLst>
              <a:gd name="adj" fmla="val 2667"/>
            </a:avLst>
          </a:prstGeom>
          <a:solidFill>
            <a:srgbClr val="071A33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1DEF1E-197A-46B1-A388-4D31A467ECE4}"/>
              </a:ext>
            </a:extLst>
          </p:cNvPr>
          <p:cNvSpPr>
            <a:spLocks noGrp="1"/>
          </p:cNvSpPr>
          <p:nvPr/>
        </p:nvSpPr>
        <p:spPr>
          <a:xfrm>
            <a:off x="8286750" y="1733550"/>
            <a:ext cx="2095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050" b="1">
                <a:solidFill>
                  <a:srgbClr val="A6D7F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6D7F5"/>
                </a:solidFill>
                <a:latin typeface="Aptos"/>
                <a:ea typeface="Aptos"/>
                <a:cs typeface="Aptos"/>
              </a:rPr>
              <a:t>DOMAIN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834EC-3AC9-4A63-897C-8017E44A9B48}"/>
              </a:ext>
            </a:extLst>
          </p:cNvPr>
          <p:cNvSpPr>
            <a:spLocks noGrp="1"/>
          </p:cNvSpPr>
          <p:nvPr/>
        </p:nvSpPr>
        <p:spPr>
          <a:xfrm>
            <a:off x="8334375" y="2247900"/>
            <a:ext cx="2000250" cy="685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Embedded</a:t>
            </a:r>
          </a:p>
          <a:p>
            <a:pPr algn="ctr">
              <a:defRPr sz="23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Systems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EC270D-B52D-422B-A323-727EE7651508}"/>
              </a:ext>
            </a:extLst>
          </p:cNvPr>
          <p:cNvSpPr>
            <a:spLocks noGrp="1"/>
          </p:cNvSpPr>
          <p:nvPr/>
        </p:nvSpPr>
        <p:spPr>
          <a:xfrm>
            <a:off x="8115300" y="3219450"/>
            <a:ext cx="24384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D7EAF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EAF5"/>
                </a:solidFill>
                <a:latin typeface="Aptos"/>
                <a:ea typeface="Aptos"/>
                <a:cs typeface="Aptos"/>
              </a:rPr>
              <a:t>Sensors + digital logic + power switching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9971C0F-90AB-48C0-9376-2C79C056B301}"/>
              </a:ext>
            </a:extLst>
          </p:cNvPr>
          <p:cNvSpPr>
            <a:spLocks noGrp="1"/>
          </p:cNvSpPr>
          <p:nvPr/>
        </p:nvSpPr>
        <p:spPr>
          <a:xfrm>
            <a:off x="685800" y="2924175"/>
            <a:ext cx="85725" cy="85725"/>
          </a:xfrm>
          <a:prstGeom prst="ellipse">
            <a:avLst/>
          </a:prstGeom>
          <a:solidFill>
            <a:srgbClr val="F3B33D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69BCE8-6705-4A03-BC55-12A9814C0847}"/>
              </a:ext>
            </a:extLst>
          </p:cNvPr>
          <p:cNvSpPr>
            <a:spLocks noGrp="1"/>
          </p:cNvSpPr>
          <p:nvPr/>
        </p:nvSpPr>
        <p:spPr>
          <a:xfrm>
            <a:off x="914400" y="2857500"/>
            <a:ext cx="624840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Energy awareness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3520EF-D1C3-46FD-8829-26988EE05FFD}"/>
              </a:ext>
            </a:extLst>
          </p:cNvPr>
          <p:cNvSpPr>
            <a:spLocks noGrp="1"/>
          </p:cNvSpPr>
          <p:nvPr/>
        </p:nvSpPr>
        <p:spPr>
          <a:xfrm>
            <a:off x="914400" y="3124200"/>
            <a:ext cx="62484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Lights operate only when the environment requires illumination.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A103C76-76C5-4469-A4E9-1357DA9B643B}"/>
              </a:ext>
            </a:extLst>
          </p:cNvPr>
          <p:cNvSpPr>
            <a:spLocks noGrp="1"/>
          </p:cNvSpPr>
          <p:nvPr/>
        </p:nvSpPr>
        <p:spPr>
          <a:xfrm>
            <a:off x="685800" y="3876675"/>
            <a:ext cx="85725" cy="85725"/>
          </a:xfrm>
          <a:prstGeom prst="ellipse">
            <a:avLst/>
          </a:prstGeom>
          <a:solidFill>
            <a:srgbClr val="F3B33D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699B26-38DF-4678-8AAB-51C08706D1AE}"/>
              </a:ext>
            </a:extLst>
          </p:cNvPr>
          <p:cNvSpPr>
            <a:spLocks noGrp="1"/>
          </p:cNvSpPr>
          <p:nvPr/>
        </p:nvSpPr>
        <p:spPr>
          <a:xfrm>
            <a:off x="914400" y="3810000"/>
            <a:ext cx="624840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Road safety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7FDD7B4-FA7D-415A-9FAD-1BEE8143AC1F}"/>
              </a:ext>
            </a:extLst>
          </p:cNvPr>
          <p:cNvSpPr>
            <a:spLocks noGrp="1"/>
          </p:cNvSpPr>
          <p:nvPr/>
        </p:nvSpPr>
        <p:spPr>
          <a:xfrm>
            <a:off x="914400" y="4076700"/>
            <a:ext cx="62484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A lamp provides visibility during dark hours and when a person or vehicle approaches.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A8186D2-B32D-428E-8DD1-E86D7C18E791}"/>
              </a:ext>
            </a:extLst>
          </p:cNvPr>
          <p:cNvSpPr>
            <a:spLocks noGrp="1"/>
          </p:cNvSpPr>
          <p:nvPr/>
        </p:nvSpPr>
        <p:spPr>
          <a:xfrm>
            <a:off x="685800" y="4829175"/>
            <a:ext cx="85725" cy="85725"/>
          </a:xfrm>
          <a:prstGeom prst="ellipse">
            <a:avLst/>
          </a:prstGeom>
          <a:solidFill>
            <a:srgbClr val="F3B33D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B4156D-FD20-4CF3-BD91-3D302C9BDD81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624840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Digital design link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2B58CD-12FD-4FCE-92AA-1D25836ED6B3}"/>
              </a:ext>
            </a:extLst>
          </p:cNvPr>
          <p:cNvSpPr>
            <a:spLocks noGrp="1"/>
          </p:cNvSpPr>
          <p:nvPr/>
        </p:nvSpPr>
        <p:spPr>
          <a:xfrm>
            <a:off x="914400" y="5029200"/>
            <a:ext cx="62484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The controller converts sensor states into a defined output using combinational logic.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DE2144-E462-44BA-B7F7-CE6228CE5442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Automated Streetlight Control System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61E01E3-A33E-40E0-95F6-51D61CB6B722}"/>
              </a:ext>
            </a:extLst>
          </p:cNvPr>
          <p:cNvSpPr>
            <a:spLocks noGrp="1"/>
          </p:cNvSpPr>
          <p:nvPr/>
        </p:nvSpPr>
        <p:spPr>
          <a:xfrm>
            <a:off x="10991850" y="6438900"/>
            <a:ext cx="5143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40983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08FC948-48F8-4345-8EEB-E4B7AE45DA5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048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498D63-AE44-42AC-9733-4F4F88E8DAFC}"/>
              </a:ext>
            </a:extLst>
          </p:cNvPr>
          <p:cNvSpPr>
            <a:spLocks noGrp="1"/>
          </p:cNvSpPr>
          <p:nvPr/>
        </p:nvSpPr>
        <p:spPr>
          <a:xfrm>
            <a:off x="11049000" y="457200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9423A3-3A97-40DE-8E09-01AA76265DE7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38100"/>
          </a:xfrm>
          <a:prstGeom prst="rect">
            <a:avLst/>
          </a:prstGeom>
          <a:solidFill>
            <a:srgbClr val="F3B33D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80DA6D-D616-4868-B24E-73F4148676FF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6858000" cy="742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75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Conventional streetlights may remain ON during daylight or when roads are empty because switching depends on fixed schedules or manual intervention.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7B11531-57F0-485D-B849-405FAF729281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3238500" cy="2000250"/>
          </a:xfrm>
          <a:prstGeom prst="roundRect">
            <a:avLst>
              <a:gd name="adj" fmla="val 3810"/>
            </a:avLst>
          </a:prstGeom>
          <a:solidFill>
            <a:srgbClr val="E9F1F8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4A4242-3E70-4401-AEEA-3DD27BD3D578}"/>
              </a:ext>
            </a:extLst>
          </p:cNvPr>
          <p:cNvSpPr>
            <a:spLocks noGrp="1"/>
          </p:cNvSpPr>
          <p:nvPr/>
        </p:nvSpPr>
        <p:spPr>
          <a:xfrm>
            <a:off x="933450" y="28384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Observed limitations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0BF5FC-FCC8-428C-A9A1-444D06183A7E}"/>
              </a:ext>
            </a:extLst>
          </p:cNvPr>
          <p:cNvSpPr>
            <a:spLocks noGrp="1"/>
          </p:cNvSpPr>
          <p:nvPr/>
        </p:nvSpPr>
        <p:spPr>
          <a:xfrm>
            <a:off x="933450" y="3276600"/>
            <a:ext cx="2619375" cy="990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• Unnecessary daytime operation</a:t>
            </a:r>
          </a:p>
          <a:p>
            <a:pPr>
              <a:defRPr sz="13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• Wasted energy on low-traffic roads</a:t>
            </a:r>
          </a:p>
          <a:p>
            <a:pPr>
              <a:defRPr sz="13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• No local response to changing light levels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442FDE1-F464-4FD9-935E-2B91E9591597}"/>
              </a:ext>
            </a:extLst>
          </p:cNvPr>
          <p:cNvSpPr>
            <a:spLocks noGrp="1"/>
          </p:cNvSpPr>
          <p:nvPr/>
        </p:nvSpPr>
        <p:spPr>
          <a:xfrm>
            <a:off x="4267200" y="2571750"/>
            <a:ext cx="3238500" cy="2000250"/>
          </a:xfrm>
          <a:prstGeom prst="roundRect">
            <a:avLst>
              <a:gd name="adj" fmla="val 3810"/>
            </a:avLst>
          </a:prstGeom>
          <a:solidFill>
            <a:srgbClr val="FFF4D9"/>
          </a:solidFill>
          <a:ln w="0">
            <a:noFill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44E3D9-9C3E-4BDE-B9E2-EE5255504912}"/>
              </a:ext>
            </a:extLst>
          </p:cNvPr>
          <p:cNvSpPr>
            <a:spLocks noGrp="1"/>
          </p:cNvSpPr>
          <p:nvPr/>
        </p:nvSpPr>
        <p:spPr>
          <a:xfrm>
            <a:off x="4514850" y="2838450"/>
            <a:ext cx="2476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9A6700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9A6700"/>
                </a:solidFill>
                <a:latin typeface="Aptos"/>
                <a:ea typeface="Aptos"/>
                <a:cs typeface="Aptos"/>
              </a:rPr>
              <a:t>Project need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A5FCB4-A215-4A0E-A1CB-682E51D64E3B}"/>
              </a:ext>
            </a:extLst>
          </p:cNvPr>
          <p:cNvSpPr>
            <a:spLocks noGrp="1"/>
          </p:cNvSpPr>
          <p:nvPr/>
        </p:nvSpPr>
        <p:spPr>
          <a:xfrm>
            <a:off x="4514850" y="3276600"/>
            <a:ext cx="2619375" cy="990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A low-cost controller must detect darkness, observe motion, and safely operate an LED lamp through a switching stage.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B098586-8174-4C6D-897B-998903FA4632}"/>
              </a:ext>
            </a:extLst>
          </p:cNvPr>
          <p:cNvSpPr>
            <a:spLocks noGrp="1"/>
          </p:cNvSpPr>
          <p:nvPr/>
        </p:nvSpPr>
        <p:spPr>
          <a:xfrm>
            <a:off x="8077200" y="2400300"/>
            <a:ext cx="2667000" cy="2362200"/>
          </a:xfrm>
          <a:prstGeom prst="roundRect">
            <a:avLst>
              <a:gd name="adj" fmla="val 3226"/>
            </a:avLst>
          </a:prstGeom>
          <a:solidFill>
            <a:srgbClr val="071A33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DB8A82-6EEB-4065-A3B4-4F4DCC781B33}"/>
              </a:ext>
            </a:extLst>
          </p:cNvPr>
          <p:cNvSpPr>
            <a:spLocks noGrp="1"/>
          </p:cNvSpPr>
          <p:nvPr/>
        </p:nvSpPr>
        <p:spPr>
          <a:xfrm>
            <a:off x="8362950" y="2724150"/>
            <a:ext cx="20955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425" b="1">
                <a:solidFill>
                  <a:srgbClr val="A6D7F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A6D7F5"/>
                </a:solidFill>
                <a:latin typeface="Aptos"/>
                <a:ea typeface="Aptos"/>
                <a:cs typeface="Aptos"/>
              </a:rPr>
              <a:t>Design question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55E150-FF0F-449D-8208-42B7F30EA3CC}"/>
              </a:ext>
            </a:extLst>
          </p:cNvPr>
          <p:cNvSpPr>
            <a:spLocks noGrp="1"/>
          </p:cNvSpPr>
          <p:nvPr/>
        </p:nvSpPr>
        <p:spPr>
          <a:xfrm>
            <a:off x="8382000" y="3286125"/>
            <a:ext cx="20574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When should</a:t>
            </a:r>
          </a:p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lamp turn ON?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5314A95-91D4-4598-A3C2-27D5D51F0120}"/>
              </a:ext>
            </a:extLst>
          </p:cNvPr>
          <p:cNvSpPr>
            <a:spLocks noGrp="1"/>
          </p:cNvSpPr>
          <p:nvPr/>
        </p:nvSpPr>
        <p:spPr>
          <a:xfrm>
            <a:off x="8334375" y="4095750"/>
            <a:ext cx="214312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D7EAF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EAF5"/>
                </a:solidFill>
                <a:latin typeface="Aptos"/>
                <a:ea typeface="Aptos"/>
                <a:cs typeface="Aptos"/>
              </a:rPr>
              <a:t>Only when it is dark and</a:t>
            </a:r>
          </a:p>
          <a:p>
            <a:pPr algn="ctr">
              <a:defRPr sz="1200" b="0">
                <a:solidFill>
                  <a:srgbClr val="D7EAF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EAF5"/>
                </a:solidFill>
                <a:latin typeface="Aptos"/>
                <a:ea typeface="Aptos"/>
                <a:cs typeface="Aptos"/>
              </a:rPr>
              <a:t>activity is detected.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75BFA5-C631-4E24-9A30-AF5A7BC4E39B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Automated Streetlight Control System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86332F-6469-47FF-A250-97B3DB939409}"/>
              </a:ext>
            </a:extLst>
          </p:cNvPr>
          <p:cNvSpPr>
            <a:spLocks noGrp="1"/>
          </p:cNvSpPr>
          <p:nvPr/>
        </p:nvSpPr>
        <p:spPr>
          <a:xfrm>
            <a:off x="10991850" y="6438900"/>
            <a:ext cx="5143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4745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68F6035-C82C-497C-B041-1CFB2839AC3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048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929F88-C7F0-4561-A7CF-CCD4AF4DE82F}"/>
              </a:ext>
            </a:extLst>
          </p:cNvPr>
          <p:cNvSpPr>
            <a:spLocks noGrp="1"/>
          </p:cNvSpPr>
          <p:nvPr/>
        </p:nvSpPr>
        <p:spPr>
          <a:xfrm>
            <a:off x="11049000" y="457200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309A76-8E77-463E-AFD5-4AD0BC3D497F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38100"/>
          </a:xfrm>
          <a:prstGeom prst="rect">
            <a:avLst/>
          </a:prstGeom>
          <a:solidFill>
            <a:srgbClr val="F3B33D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89A0A89-6BF7-4897-BB4B-6DBF045B9701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8191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The project aims to build and demonstrate a compact automatic controller for one streetlight unit.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CB4EED9-FB9C-4702-A278-6DF14ED843F1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400050" cy="400050"/>
          </a:xfrm>
          <a:prstGeom prst="ellipse">
            <a:avLst/>
          </a:prstGeom>
          <a:solidFill>
            <a:srgbClr val="0B4F8A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F7B23B-662F-400E-985E-4B21A5F6FA60}"/>
              </a:ext>
            </a:extLst>
          </p:cNvPr>
          <p:cNvSpPr>
            <a:spLocks noGrp="1"/>
          </p:cNvSpPr>
          <p:nvPr/>
        </p:nvSpPr>
        <p:spPr>
          <a:xfrm>
            <a:off x="762000" y="2209800"/>
            <a:ext cx="40005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358DCC-7679-4DF0-B876-A4AAD1286506}"/>
              </a:ext>
            </a:extLst>
          </p:cNvPr>
          <p:cNvSpPr>
            <a:spLocks noGrp="1"/>
          </p:cNvSpPr>
          <p:nvPr/>
        </p:nvSpPr>
        <p:spPr>
          <a:xfrm>
            <a:off x="1381125" y="2124075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Detect ambient light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8FD5FD-AC4B-4334-B6DB-6F73130D81AC}"/>
              </a:ext>
            </a:extLst>
          </p:cNvPr>
          <p:cNvSpPr>
            <a:spLocks noGrp="1"/>
          </p:cNvSpPr>
          <p:nvPr/>
        </p:nvSpPr>
        <p:spPr>
          <a:xfrm>
            <a:off x="3981450" y="2124075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Use an LDR and comparator to create a digital DAY/DARK signal.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F8469D3-5B3F-40AF-915F-1D0DF6A02C6A}"/>
              </a:ext>
            </a:extLst>
          </p:cNvPr>
          <p:cNvSpPr>
            <a:spLocks noGrp="1"/>
          </p:cNvSpPr>
          <p:nvPr/>
        </p:nvSpPr>
        <p:spPr>
          <a:xfrm>
            <a:off x="762000" y="2924175"/>
            <a:ext cx="400050" cy="400050"/>
          </a:xfrm>
          <a:prstGeom prst="ellipse">
            <a:avLst/>
          </a:prstGeom>
          <a:solidFill>
            <a:srgbClr val="0B4F8A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ECFBDA2-BA31-4B9C-9D43-13BBDF4EA9D3}"/>
              </a:ext>
            </a:extLst>
          </p:cNvPr>
          <p:cNvSpPr>
            <a:spLocks noGrp="1"/>
          </p:cNvSpPr>
          <p:nvPr/>
        </p:nvSpPr>
        <p:spPr>
          <a:xfrm>
            <a:off x="762000" y="2990850"/>
            <a:ext cx="40005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60ED69-5EBD-4E81-BB76-423439180EF5}"/>
              </a:ext>
            </a:extLst>
          </p:cNvPr>
          <p:cNvSpPr>
            <a:spLocks noGrp="1"/>
          </p:cNvSpPr>
          <p:nvPr/>
        </p:nvSpPr>
        <p:spPr>
          <a:xfrm>
            <a:off x="1381125" y="2905125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Detect road activity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553F9A-29AB-4993-B2AA-6E0672DF37AE}"/>
              </a:ext>
            </a:extLst>
          </p:cNvPr>
          <p:cNvSpPr>
            <a:spLocks noGrp="1"/>
          </p:cNvSpPr>
          <p:nvPr/>
        </p:nvSpPr>
        <p:spPr>
          <a:xfrm>
            <a:off x="3981450" y="2905125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Use a PIR motion sensor as the activity input.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4CA81A3-7558-401F-B672-D29FDB48CF95}"/>
              </a:ext>
            </a:extLst>
          </p:cNvPr>
          <p:cNvSpPr>
            <a:spLocks noGrp="1"/>
          </p:cNvSpPr>
          <p:nvPr/>
        </p:nvSpPr>
        <p:spPr>
          <a:xfrm>
            <a:off x="762000" y="3705225"/>
            <a:ext cx="400050" cy="400050"/>
          </a:xfrm>
          <a:prstGeom prst="ellipse">
            <a:avLst/>
          </a:prstGeom>
          <a:solidFill>
            <a:srgbClr val="0B4F8A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568297-F86C-4F5C-A2F8-6E4D0DAAB1D0}"/>
              </a:ext>
            </a:extLst>
          </p:cNvPr>
          <p:cNvSpPr>
            <a:spLocks noGrp="1"/>
          </p:cNvSpPr>
          <p:nvPr/>
        </p:nvSpPr>
        <p:spPr>
          <a:xfrm>
            <a:off x="762000" y="3771900"/>
            <a:ext cx="40005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AAD44C3-EC4F-4E9E-8A13-FF35E6271C6D}"/>
              </a:ext>
            </a:extLst>
          </p:cNvPr>
          <p:cNvSpPr>
            <a:spLocks noGrp="1"/>
          </p:cNvSpPr>
          <p:nvPr/>
        </p:nvSpPr>
        <p:spPr>
          <a:xfrm>
            <a:off x="1381125" y="3686175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Implement control logic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DF7EC8-5A2B-4750-BEB6-35B915A542D7}"/>
              </a:ext>
            </a:extLst>
          </p:cNvPr>
          <p:cNvSpPr>
            <a:spLocks noGrp="1"/>
          </p:cNvSpPr>
          <p:nvPr/>
        </p:nvSpPr>
        <p:spPr>
          <a:xfrm>
            <a:off x="3981450" y="3686175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Create the lamp command from the current sensor states.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199A949-692E-43B7-84FA-1C04BB056273}"/>
              </a:ext>
            </a:extLst>
          </p:cNvPr>
          <p:cNvSpPr>
            <a:spLocks noGrp="1"/>
          </p:cNvSpPr>
          <p:nvPr/>
        </p:nvSpPr>
        <p:spPr>
          <a:xfrm>
            <a:off x="762000" y="4486275"/>
            <a:ext cx="400050" cy="400050"/>
          </a:xfrm>
          <a:prstGeom prst="ellipse">
            <a:avLst/>
          </a:prstGeom>
          <a:solidFill>
            <a:srgbClr val="0B4F8A"/>
          </a:solidFill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0F8E95-9E72-4629-B14B-B85FB3C9DF28}"/>
              </a:ext>
            </a:extLst>
          </p:cNvPr>
          <p:cNvSpPr>
            <a:spLocks noGrp="1"/>
          </p:cNvSpPr>
          <p:nvPr/>
        </p:nvSpPr>
        <p:spPr>
          <a:xfrm>
            <a:off x="762000" y="4552950"/>
            <a:ext cx="40005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92368ED-CFB4-4160-B9E3-45DC44006F1D}"/>
              </a:ext>
            </a:extLst>
          </p:cNvPr>
          <p:cNvSpPr>
            <a:spLocks noGrp="1"/>
          </p:cNvSpPr>
          <p:nvPr/>
        </p:nvSpPr>
        <p:spPr>
          <a:xfrm>
            <a:off x="1381125" y="4467225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Drive the load safely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E3CAC38-5B54-4C91-97E3-1EC5091F3B82}"/>
              </a:ext>
            </a:extLst>
          </p:cNvPr>
          <p:cNvSpPr>
            <a:spLocks noGrp="1"/>
          </p:cNvSpPr>
          <p:nvPr/>
        </p:nvSpPr>
        <p:spPr>
          <a:xfrm>
            <a:off x="3981450" y="4467225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Use a transistor and relay or MOSFET interface for the LED lamp.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659F379-B98D-43FE-B118-426E49A550C8}"/>
              </a:ext>
            </a:extLst>
          </p:cNvPr>
          <p:cNvSpPr>
            <a:spLocks noGrp="1"/>
          </p:cNvSpPr>
          <p:nvPr/>
        </p:nvSpPr>
        <p:spPr>
          <a:xfrm>
            <a:off x="762000" y="5267325"/>
            <a:ext cx="400050" cy="400050"/>
          </a:xfrm>
          <a:prstGeom prst="ellipse">
            <a:avLst/>
          </a:prstGeom>
          <a:solidFill>
            <a:srgbClr val="F3B33D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F45CC0-2A23-4325-835E-99BC365155CA}"/>
              </a:ext>
            </a:extLst>
          </p:cNvPr>
          <p:cNvSpPr>
            <a:spLocks noGrp="1"/>
          </p:cNvSpPr>
          <p:nvPr/>
        </p:nvSpPr>
        <p:spPr>
          <a:xfrm>
            <a:off x="762000" y="5334000"/>
            <a:ext cx="40005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CC2BDC9-B19A-487A-94BB-99F0E4A117C8}"/>
              </a:ext>
            </a:extLst>
          </p:cNvPr>
          <p:cNvSpPr>
            <a:spLocks noGrp="1"/>
          </p:cNvSpPr>
          <p:nvPr/>
        </p:nvSpPr>
        <p:spPr>
          <a:xfrm>
            <a:off x="1381125" y="5248275"/>
            <a:ext cx="24765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Verify behaviour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98991A-737B-481F-8B9F-6E433603202C}"/>
              </a:ext>
            </a:extLst>
          </p:cNvPr>
          <p:cNvSpPr>
            <a:spLocks noGrp="1"/>
          </p:cNvSpPr>
          <p:nvPr/>
        </p:nvSpPr>
        <p:spPr>
          <a:xfrm>
            <a:off x="3981450" y="5248275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Check the circuit with a truth table and representative input cases.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085785-D3B2-4292-937A-B55CF6C59B52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Automated Streetlight Control System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8D54F1A-1E3B-4A3A-B621-E8F3CCE43AD5}"/>
              </a:ext>
            </a:extLst>
          </p:cNvPr>
          <p:cNvSpPr>
            <a:spLocks noGrp="1"/>
          </p:cNvSpPr>
          <p:nvPr/>
        </p:nvSpPr>
        <p:spPr>
          <a:xfrm>
            <a:off x="10991850" y="6438900"/>
            <a:ext cx="5143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15957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B9B5EA53-9389-4C47-AF9D-6805FA04333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048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Literature Survey / Existing System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E932CB-8460-4208-997A-1DA4C88AD652}"/>
              </a:ext>
            </a:extLst>
          </p:cNvPr>
          <p:cNvSpPr>
            <a:spLocks noGrp="1"/>
          </p:cNvSpPr>
          <p:nvPr/>
        </p:nvSpPr>
        <p:spPr>
          <a:xfrm>
            <a:off x="11049000" y="457200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75A8BAC-F097-45E9-B150-35A0B226AA86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38100"/>
          </a:xfrm>
          <a:prstGeom prst="rect">
            <a:avLst/>
          </a:prstGeom>
          <a:solidFill>
            <a:srgbClr val="F3B33D"/>
          </a:solidFill>
          <a:ln w="0">
            <a:noFill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5D9A2AD-4ECA-4B5E-829B-5A41FDE64EA7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143250" cy="3429000"/>
          </a:xfrm>
          <a:prstGeom prst="roundRect">
            <a:avLst>
              <a:gd name="adj" fmla="val 2424"/>
            </a:avLst>
          </a:prstGeom>
          <a:solidFill>
            <a:srgbClr val="E9F1F8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6D303E-DF00-45D8-AA81-3701785D182A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143250" cy="76200"/>
          </a:xfrm>
          <a:prstGeom prst="rect">
            <a:avLst/>
          </a:prstGeom>
          <a:solidFill>
            <a:srgbClr val="0B4F8A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0E7830-3A08-44E5-98C3-1B87DEF39250}"/>
              </a:ext>
            </a:extLst>
          </p:cNvPr>
          <p:cNvSpPr>
            <a:spLocks noGrp="1"/>
          </p:cNvSpPr>
          <p:nvPr/>
        </p:nvSpPr>
        <p:spPr>
          <a:xfrm>
            <a:off x="952500" y="2000250"/>
            <a:ext cx="26098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Manual switching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9A4FAA-42A0-409E-AB11-808488C09BA7}"/>
              </a:ext>
            </a:extLst>
          </p:cNvPr>
          <p:cNvSpPr>
            <a:spLocks noGrp="1"/>
          </p:cNvSpPr>
          <p:nvPr/>
        </p:nvSpPr>
        <p:spPr>
          <a:xfrm>
            <a:off x="952500" y="2724150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30567C-2D0C-4C9D-B711-0498367C4E2D}"/>
              </a:ext>
            </a:extLst>
          </p:cNvPr>
          <p:cNvSpPr>
            <a:spLocks noGrp="1"/>
          </p:cNvSpPr>
          <p:nvPr/>
        </p:nvSpPr>
        <p:spPr>
          <a:xfrm>
            <a:off x="952500" y="2990850"/>
            <a:ext cx="26098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Operator turns lamps ON and OFF.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C5C22A-5FEE-46E8-ACB0-37AF2BBB623F}"/>
              </a:ext>
            </a:extLst>
          </p:cNvPr>
          <p:cNvSpPr>
            <a:spLocks noGrp="1"/>
          </p:cNvSpPr>
          <p:nvPr/>
        </p:nvSpPr>
        <p:spPr>
          <a:xfrm>
            <a:off x="952500" y="3829050"/>
            <a:ext cx="1143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Limitation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FEAE89-F9D2-4278-91E3-AE762FD07359}"/>
              </a:ext>
            </a:extLst>
          </p:cNvPr>
          <p:cNvSpPr>
            <a:spLocks noGrp="1"/>
          </p:cNvSpPr>
          <p:nvPr/>
        </p:nvSpPr>
        <p:spPr>
          <a:xfrm>
            <a:off x="952500" y="4095750"/>
            <a:ext cx="26098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Depends on human attention and may miss changing conditions.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552422B-AD55-4E65-B9F8-3853A621E882}"/>
              </a:ext>
            </a:extLst>
          </p:cNvPr>
          <p:cNvSpPr>
            <a:spLocks noGrp="1"/>
          </p:cNvSpPr>
          <p:nvPr/>
        </p:nvSpPr>
        <p:spPr>
          <a:xfrm>
            <a:off x="4324350" y="1619250"/>
            <a:ext cx="3143250" cy="3429000"/>
          </a:xfrm>
          <a:prstGeom prst="roundRect">
            <a:avLst>
              <a:gd name="adj" fmla="val 2424"/>
            </a:avLst>
          </a:prstGeom>
          <a:solidFill>
            <a:srgbClr val="E9F1F8"/>
          </a:solidFill>
          <a:ln w="0">
            <a:noFill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CE3C6D3-264A-4B46-BAA6-DFD6E2D59889}"/>
              </a:ext>
            </a:extLst>
          </p:cNvPr>
          <p:cNvSpPr>
            <a:spLocks noGrp="1"/>
          </p:cNvSpPr>
          <p:nvPr/>
        </p:nvSpPr>
        <p:spPr>
          <a:xfrm>
            <a:off x="4324350" y="1619250"/>
            <a:ext cx="3143250" cy="76200"/>
          </a:xfrm>
          <a:prstGeom prst="rect">
            <a:avLst/>
          </a:prstGeom>
          <a:solidFill>
            <a:srgbClr val="0B4F8A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158A8C-9162-4105-8CB0-50D19C5C0A7F}"/>
              </a:ext>
            </a:extLst>
          </p:cNvPr>
          <p:cNvSpPr>
            <a:spLocks noGrp="1"/>
          </p:cNvSpPr>
          <p:nvPr/>
        </p:nvSpPr>
        <p:spPr>
          <a:xfrm>
            <a:off x="4591050" y="2000250"/>
            <a:ext cx="26098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Timer-based switching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313CAE-005B-4F22-9DB3-F9A626FE21FF}"/>
              </a:ext>
            </a:extLst>
          </p:cNvPr>
          <p:cNvSpPr>
            <a:spLocks noGrp="1"/>
          </p:cNvSpPr>
          <p:nvPr/>
        </p:nvSpPr>
        <p:spPr>
          <a:xfrm>
            <a:off x="4591050" y="2724150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213760-5FAC-4D7E-8E04-2DE8749633C5}"/>
              </a:ext>
            </a:extLst>
          </p:cNvPr>
          <p:cNvSpPr>
            <a:spLocks noGrp="1"/>
          </p:cNvSpPr>
          <p:nvPr/>
        </p:nvSpPr>
        <p:spPr>
          <a:xfrm>
            <a:off x="4591050" y="2990850"/>
            <a:ext cx="26098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A fixed schedule controls the lamp.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555035-60A1-4707-A52B-D9F5E4C22996}"/>
              </a:ext>
            </a:extLst>
          </p:cNvPr>
          <p:cNvSpPr>
            <a:spLocks noGrp="1"/>
          </p:cNvSpPr>
          <p:nvPr/>
        </p:nvSpPr>
        <p:spPr>
          <a:xfrm>
            <a:off x="4591050" y="3829050"/>
            <a:ext cx="1143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Limitation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096EDD-B0AE-4729-9799-964D5ED7C710}"/>
              </a:ext>
            </a:extLst>
          </p:cNvPr>
          <p:cNvSpPr>
            <a:spLocks noGrp="1"/>
          </p:cNvSpPr>
          <p:nvPr/>
        </p:nvSpPr>
        <p:spPr>
          <a:xfrm>
            <a:off x="4591050" y="4095750"/>
            <a:ext cx="26098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Cannot adapt to cloudy weather, seasonal daylight, or road activity.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B343156-C35A-49A1-8DDD-7FC2D75511D5}"/>
              </a:ext>
            </a:extLst>
          </p:cNvPr>
          <p:cNvSpPr>
            <a:spLocks noGrp="1"/>
          </p:cNvSpPr>
          <p:nvPr/>
        </p:nvSpPr>
        <p:spPr>
          <a:xfrm>
            <a:off x="7962900" y="1619250"/>
            <a:ext cx="3143250" cy="3429000"/>
          </a:xfrm>
          <a:prstGeom prst="roundRect">
            <a:avLst>
              <a:gd name="adj" fmla="val 2424"/>
            </a:avLst>
          </a:prstGeom>
          <a:solidFill>
            <a:srgbClr val="EAF5EF"/>
          </a:solidFill>
          <a:ln w="0">
            <a:noFill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13EB11-81D6-417C-A593-47E554904A9E}"/>
              </a:ext>
            </a:extLst>
          </p:cNvPr>
          <p:cNvSpPr>
            <a:spLocks noGrp="1"/>
          </p:cNvSpPr>
          <p:nvPr/>
        </p:nvSpPr>
        <p:spPr>
          <a:xfrm>
            <a:off x="7962900" y="1619250"/>
            <a:ext cx="3143250" cy="76200"/>
          </a:xfrm>
          <a:prstGeom prst="rect">
            <a:avLst/>
          </a:prstGeom>
          <a:solidFill>
            <a:srgbClr val="3C9665"/>
          </a:solidFill>
          <a:ln w="0">
            <a:noFill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21E8E7-C405-47D4-8A93-7D8EB3DEA5F5}"/>
              </a:ext>
            </a:extLst>
          </p:cNvPr>
          <p:cNvSpPr>
            <a:spLocks noGrp="1"/>
          </p:cNvSpPr>
          <p:nvPr/>
        </p:nvSpPr>
        <p:spPr>
          <a:xfrm>
            <a:off x="8229600" y="2000250"/>
            <a:ext cx="260985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LDR-only control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0B5DA9-D8E0-4569-B3F0-92B9A97ED45A}"/>
              </a:ext>
            </a:extLst>
          </p:cNvPr>
          <p:cNvSpPr>
            <a:spLocks noGrp="1"/>
          </p:cNvSpPr>
          <p:nvPr/>
        </p:nvSpPr>
        <p:spPr>
          <a:xfrm>
            <a:off x="8229600" y="2724150"/>
            <a:ext cx="9525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Method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4CDEAC-306A-44AD-9832-3609CE97F095}"/>
              </a:ext>
            </a:extLst>
          </p:cNvPr>
          <p:cNvSpPr>
            <a:spLocks noGrp="1"/>
          </p:cNvSpPr>
          <p:nvPr/>
        </p:nvSpPr>
        <p:spPr>
          <a:xfrm>
            <a:off x="8229600" y="2990850"/>
            <a:ext cx="26098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The lamp switches ON when it becomes dark.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EE6CC3F-219F-4471-B505-CF3C53566D83}"/>
              </a:ext>
            </a:extLst>
          </p:cNvPr>
          <p:cNvSpPr>
            <a:spLocks noGrp="1"/>
          </p:cNvSpPr>
          <p:nvPr/>
        </p:nvSpPr>
        <p:spPr>
          <a:xfrm>
            <a:off x="8229600" y="3829050"/>
            <a:ext cx="1143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050" b="1">
                <a:solidFill>
                  <a:srgbClr val="3C966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C9665"/>
                </a:solidFill>
                <a:latin typeface="Aptos"/>
                <a:ea typeface="Aptos"/>
                <a:cs typeface="Aptos"/>
              </a:rPr>
              <a:t>Limitation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331B426-FBFF-49D0-BA02-CE78192B1391}"/>
              </a:ext>
            </a:extLst>
          </p:cNvPr>
          <p:cNvSpPr>
            <a:spLocks noGrp="1"/>
          </p:cNvSpPr>
          <p:nvPr/>
        </p:nvSpPr>
        <p:spPr>
          <a:xfrm>
            <a:off x="8229600" y="4095750"/>
            <a:ext cx="2609850" cy="723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Improves daylight control but keeps the lamp ON throughout the night.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EC6806A-8B80-41AA-B2CB-5598A356696A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100012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Our design combines darkness detection with motion sensing so the lamp command reflects current conditions.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B5A8DE7-5EC1-4B90-B183-1BE7FA62FF2F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Automated Streetlight Control System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19569D8-6D1A-4235-9BEA-54BCE3D04FAD}"/>
              </a:ext>
            </a:extLst>
          </p:cNvPr>
          <p:cNvSpPr>
            <a:spLocks noGrp="1"/>
          </p:cNvSpPr>
          <p:nvPr/>
        </p:nvSpPr>
        <p:spPr>
          <a:xfrm>
            <a:off x="10991850" y="6438900"/>
            <a:ext cx="5143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83787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102A521-9B94-494C-A9E3-C07050655D2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048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Proposed System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351A7F-DE58-4B5E-B272-39FAD69CD5AC}"/>
              </a:ext>
            </a:extLst>
          </p:cNvPr>
          <p:cNvSpPr>
            <a:spLocks noGrp="1"/>
          </p:cNvSpPr>
          <p:nvPr/>
        </p:nvSpPr>
        <p:spPr>
          <a:xfrm>
            <a:off x="11049000" y="457200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1CA8D8-3862-41D0-87C2-6C5C28981B1C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38100"/>
          </a:xfrm>
          <a:prstGeom prst="rect">
            <a:avLst/>
          </a:prstGeom>
          <a:solidFill>
            <a:srgbClr val="F3B33D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535F44-CA1C-46F6-BDC6-416395926D07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001250" cy="4095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The controller receives a digital darkness signal and a motion signal. It energizes the lamp only when both conditions are true.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07694B-301F-401B-94D7-E8F3077AAA36}"/>
              </a:ext>
            </a:extLst>
          </p:cNvPr>
          <p:cNvSpPr>
            <a:spLocks noGrp="1"/>
          </p:cNvSpPr>
          <p:nvPr/>
        </p:nvSpPr>
        <p:spPr>
          <a:xfrm>
            <a:off x="819150" y="2428875"/>
            <a:ext cx="2667000" cy="2076450"/>
          </a:xfrm>
          <a:prstGeom prst="roundRect">
            <a:avLst>
              <a:gd name="adj" fmla="val 3670"/>
            </a:avLst>
          </a:prstGeom>
          <a:solidFill>
            <a:srgbClr val="071A33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8FC36E-834B-4465-8E2F-4D9BFC668F1A}"/>
              </a:ext>
            </a:extLst>
          </p:cNvPr>
          <p:cNvSpPr>
            <a:spLocks noGrp="1"/>
          </p:cNvSpPr>
          <p:nvPr/>
        </p:nvSpPr>
        <p:spPr>
          <a:xfrm>
            <a:off x="1066800" y="2705100"/>
            <a:ext cx="20002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050" b="1">
                <a:solidFill>
                  <a:srgbClr val="A6D7F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6D7F5"/>
                </a:solidFill>
                <a:latin typeface="Aptos"/>
                <a:ea typeface="Aptos"/>
                <a:cs typeface="Aptos"/>
              </a:rPr>
              <a:t>CONTROL RULE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2129C24-7CF8-43E3-8B8D-82F4DCA54375}"/>
              </a:ext>
            </a:extLst>
          </p:cNvPr>
          <p:cNvSpPr>
            <a:spLocks noGrp="1"/>
          </p:cNvSpPr>
          <p:nvPr/>
        </p:nvSpPr>
        <p:spPr>
          <a:xfrm>
            <a:off x="1066800" y="3143250"/>
            <a:ext cx="200025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2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 = D · 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976E78-7614-4FC3-ADC6-FE8A2A8ABA7D}"/>
              </a:ext>
            </a:extLst>
          </p:cNvPr>
          <p:cNvSpPr>
            <a:spLocks noGrp="1"/>
          </p:cNvSpPr>
          <p:nvPr/>
        </p:nvSpPr>
        <p:spPr>
          <a:xfrm>
            <a:off x="1143000" y="3752850"/>
            <a:ext cx="1905000" cy="533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0">
                <a:solidFill>
                  <a:srgbClr val="D7EAF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EAF5"/>
                </a:solidFill>
                <a:latin typeface="Aptos"/>
                <a:ea typeface="Aptos"/>
                <a:cs typeface="Aptos"/>
              </a:rPr>
              <a:t>L: lamp command</a:t>
            </a:r>
          </a:p>
          <a:p>
            <a:pPr algn="ctr">
              <a:defRPr sz="1200" b="0">
                <a:solidFill>
                  <a:srgbClr val="D7EAF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EAF5"/>
                </a:solidFill>
                <a:latin typeface="Aptos"/>
                <a:ea typeface="Aptos"/>
                <a:cs typeface="Aptos"/>
              </a:rPr>
              <a:t>D: darkness</a:t>
            </a:r>
          </a:p>
          <a:p>
            <a:pPr algn="ctr">
              <a:defRPr sz="1200" b="0">
                <a:solidFill>
                  <a:srgbClr val="D7EAF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D7EAF5"/>
                </a:solidFill>
                <a:latin typeface="Aptos"/>
                <a:ea typeface="Aptos"/>
                <a:cs typeface="Aptos"/>
              </a:rPr>
              <a:t>M: motion detected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401131A-AFFF-438B-A19F-974A2C65C424}"/>
              </a:ext>
            </a:extLst>
          </p:cNvPr>
          <p:cNvSpPr>
            <a:spLocks noGrp="1"/>
          </p:cNvSpPr>
          <p:nvPr/>
        </p:nvSpPr>
        <p:spPr>
          <a:xfrm>
            <a:off x="4238625" y="2543175"/>
            <a:ext cx="85725" cy="85725"/>
          </a:xfrm>
          <a:prstGeom prst="ellipse">
            <a:avLst/>
          </a:prstGeom>
          <a:solidFill>
            <a:srgbClr val="F3B33D"/>
          </a:solidFill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677B0C-2C8D-46DF-97DA-C9CE65F411A1}"/>
              </a:ext>
            </a:extLst>
          </p:cNvPr>
          <p:cNvSpPr>
            <a:spLocks noGrp="1"/>
          </p:cNvSpPr>
          <p:nvPr/>
        </p:nvSpPr>
        <p:spPr>
          <a:xfrm>
            <a:off x="4467225" y="2476500"/>
            <a:ext cx="605790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Automatic operation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FF14D2-D198-4EEC-BD53-5ADEF6635314}"/>
              </a:ext>
            </a:extLst>
          </p:cNvPr>
          <p:cNvSpPr>
            <a:spLocks noGrp="1"/>
          </p:cNvSpPr>
          <p:nvPr/>
        </p:nvSpPr>
        <p:spPr>
          <a:xfrm>
            <a:off x="4467225" y="2743200"/>
            <a:ext cx="60579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No routine manual switching is required for the normal operating mode.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C29090B-1D76-4813-8DB5-E8DF04B04F11}"/>
              </a:ext>
            </a:extLst>
          </p:cNvPr>
          <p:cNvSpPr>
            <a:spLocks noGrp="1"/>
          </p:cNvSpPr>
          <p:nvPr/>
        </p:nvSpPr>
        <p:spPr>
          <a:xfrm>
            <a:off x="4238625" y="3352800"/>
            <a:ext cx="85725" cy="85725"/>
          </a:xfrm>
          <a:prstGeom prst="ellipse">
            <a:avLst/>
          </a:prstGeom>
          <a:solidFill>
            <a:srgbClr val="F3B33D"/>
          </a:solidFill>
          <a:ln w="0">
            <a:noFill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D99F3A5-6D1B-4C10-B73B-7E9A07F36627}"/>
              </a:ext>
            </a:extLst>
          </p:cNvPr>
          <p:cNvSpPr>
            <a:spLocks noGrp="1"/>
          </p:cNvSpPr>
          <p:nvPr/>
        </p:nvSpPr>
        <p:spPr>
          <a:xfrm>
            <a:off x="4467225" y="3286125"/>
            <a:ext cx="605790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Simple hardware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E25045-F1BE-490D-95E6-224A62877089}"/>
              </a:ext>
            </a:extLst>
          </p:cNvPr>
          <p:cNvSpPr>
            <a:spLocks noGrp="1"/>
          </p:cNvSpPr>
          <p:nvPr/>
        </p:nvSpPr>
        <p:spPr>
          <a:xfrm>
            <a:off x="4467225" y="3552825"/>
            <a:ext cx="60579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The core design uses common sensors, a comparator, an AND gate, and a relay driver.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AD935D8-321C-42EC-B79B-0FE4FE1F2FE9}"/>
              </a:ext>
            </a:extLst>
          </p:cNvPr>
          <p:cNvSpPr>
            <a:spLocks noGrp="1"/>
          </p:cNvSpPr>
          <p:nvPr/>
        </p:nvSpPr>
        <p:spPr>
          <a:xfrm>
            <a:off x="4238625" y="4162425"/>
            <a:ext cx="85725" cy="85725"/>
          </a:xfrm>
          <a:prstGeom prst="ellipse">
            <a:avLst/>
          </a:prstGeom>
          <a:solidFill>
            <a:srgbClr val="F3B33D"/>
          </a:solidFill>
          <a:ln w="0">
            <a:noFill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3BCD7F-3BD3-4DA3-AA38-AFBB57127304}"/>
              </a:ext>
            </a:extLst>
          </p:cNvPr>
          <p:cNvSpPr>
            <a:spLocks noGrp="1"/>
          </p:cNvSpPr>
          <p:nvPr/>
        </p:nvSpPr>
        <p:spPr>
          <a:xfrm>
            <a:off x="4467225" y="4095750"/>
            <a:ext cx="6057900" cy="2571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Scalable concept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1DCE97-2246-40FF-BDD4-8411A36015B4}"/>
              </a:ext>
            </a:extLst>
          </p:cNvPr>
          <p:cNvSpPr>
            <a:spLocks noGrp="1"/>
          </p:cNvSpPr>
          <p:nvPr/>
        </p:nvSpPr>
        <p:spPr>
          <a:xfrm>
            <a:off x="4467225" y="4362450"/>
            <a:ext cx="6057900" cy="419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27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Additional lamps can use the same control block with suitable power drivers.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37E56D-CFD6-47BD-984F-4A67B43D6F08}"/>
              </a:ext>
            </a:extLst>
          </p:cNvPr>
          <p:cNvSpPr>
            <a:spLocks noGrp="1"/>
          </p:cNvSpPr>
          <p:nvPr/>
        </p:nvSpPr>
        <p:spPr>
          <a:xfrm>
            <a:off x="819150" y="5219700"/>
            <a:ext cx="9620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75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Improvement: the logic prevents lamp activation in daylight even if motion occurs.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C400F7-50FD-4B95-AE7A-FF1B2A86D412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Automated Streetlight Control System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1CD7B2-60E5-4B3F-BCAA-122DD1B557AF}"/>
              </a:ext>
            </a:extLst>
          </p:cNvPr>
          <p:cNvSpPr>
            <a:spLocks noGrp="1"/>
          </p:cNvSpPr>
          <p:nvPr/>
        </p:nvSpPr>
        <p:spPr>
          <a:xfrm>
            <a:off x="10991850" y="6438900"/>
            <a:ext cx="5143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69183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1664FAD6-0F2E-4EEC-BAF2-2E4F7076E6E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048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System Architecture / Block Diagram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03E5D02-F3D1-42D9-830F-08470F8E8D79}"/>
              </a:ext>
            </a:extLst>
          </p:cNvPr>
          <p:cNvSpPr>
            <a:spLocks noGrp="1"/>
          </p:cNvSpPr>
          <p:nvPr/>
        </p:nvSpPr>
        <p:spPr>
          <a:xfrm>
            <a:off x="11049000" y="457200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093BB3-E9B8-442A-B7BC-42B363268C57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38100"/>
          </a:xfrm>
          <a:prstGeom prst="rect">
            <a:avLst/>
          </a:prstGeom>
          <a:solidFill>
            <a:srgbClr val="F3B33D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63DC94C-BE08-4483-925D-AA08852C9268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904875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Sensor signals flow through conditioning and logic before the power stage drives the LED lamp.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7133C97-CDAD-4240-8CFF-EED64FF07549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Automated Streetlight Control System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4D2523-92ED-4327-8D82-1132ACDC9F34}"/>
              </a:ext>
            </a:extLst>
          </p:cNvPr>
          <p:cNvSpPr>
            <a:spLocks noGrp="1"/>
          </p:cNvSpPr>
          <p:nvPr/>
        </p:nvSpPr>
        <p:spPr>
          <a:xfrm>
            <a:off x="10991850" y="6438900"/>
            <a:ext cx="5143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275E387-7559-269A-2671-7243D1B39C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8632" y="1851914"/>
            <a:ext cx="8209935" cy="447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707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2722F275-7856-4ED4-AA7A-83FC8AEB821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048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Methodology / Implementation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71EF7D0-FAA0-4684-BB33-E842E4907AFA}"/>
              </a:ext>
            </a:extLst>
          </p:cNvPr>
          <p:cNvSpPr>
            <a:spLocks noGrp="1"/>
          </p:cNvSpPr>
          <p:nvPr/>
        </p:nvSpPr>
        <p:spPr>
          <a:xfrm>
            <a:off x="11049000" y="457200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5DB3BF-01E9-4835-A099-8EC9091BAC11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38100"/>
          </a:xfrm>
          <a:prstGeom prst="rect">
            <a:avLst/>
          </a:prstGeom>
          <a:solidFill>
            <a:srgbClr val="F3B33D"/>
          </a:solidFill>
          <a:ln w="0">
            <a:noFill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FBB4235-0BDE-4AC9-84B8-01A75C79B1EB}"/>
              </a:ext>
            </a:extLst>
          </p:cNvPr>
          <p:cNvSpPr>
            <a:spLocks noGrp="1"/>
          </p:cNvSpPr>
          <p:nvPr/>
        </p:nvSpPr>
        <p:spPr>
          <a:xfrm>
            <a:off x="714375" y="1952625"/>
            <a:ext cx="17526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8E4EE"/>
            </a:solidFill>
          </a:ln>
        </p:spPr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307EE8A-3D6E-494D-BF1B-11E16B3AA8E9}"/>
              </a:ext>
            </a:extLst>
          </p:cNvPr>
          <p:cNvSpPr>
            <a:spLocks noGrp="1"/>
          </p:cNvSpPr>
          <p:nvPr/>
        </p:nvSpPr>
        <p:spPr>
          <a:xfrm>
            <a:off x="1333500" y="1714500"/>
            <a:ext cx="514350" cy="514350"/>
          </a:xfrm>
          <a:prstGeom prst="ellipse">
            <a:avLst/>
          </a:prstGeom>
          <a:solidFill>
            <a:srgbClr val="0B4F8A"/>
          </a:solidFill>
          <a:ln w="0">
            <a:noFill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E6A226-B095-47F1-BC53-524440FBF1E3}"/>
              </a:ext>
            </a:extLst>
          </p:cNvPr>
          <p:cNvSpPr>
            <a:spLocks noGrp="1"/>
          </p:cNvSpPr>
          <p:nvPr/>
        </p:nvSpPr>
        <p:spPr>
          <a:xfrm>
            <a:off x="1333500" y="1838325"/>
            <a:ext cx="5143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F17EB8E-1B25-4EE3-BB76-497A9821BCB9}"/>
              </a:ext>
            </a:extLst>
          </p:cNvPr>
          <p:cNvSpPr>
            <a:spLocks noGrp="1"/>
          </p:cNvSpPr>
          <p:nvPr/>
        </p:nvSpPr>
        <p:spPr>
          <a:xfrm>
            <a:off x="885825" y="2428875"/>
            <a:ext cx="14097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Sense light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CD5DC6-B211-411D-AE1F-1B5C0DBE5BBA}"/>
              </a:ext>
            </a:extLst>
          </p:cNvPr>
          <p:cNvSpPr>
            <a:spLocks noGrp="1"/>
          </p:cNvSpPr>
          <p:nvPr/>
        </p:nvSpPr>
        <p:spPr>
          <a:xfrm>
            <a:off x="857250" y="2800350"/>
            <a:ext cx="1466850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12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LDR voltage changes with ambient light. The comparator outputs D = 1 in darkness.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CF0115-0E18-4553-BBB5-92570641CF39}"/>
              </a:ext>
            </a:extLst>
          </p:cNvPr>
          <p:cNvSpPr>
            <a:spLocks noGrp="1"/>
          </p:cNvSpPr>
          <p:nvPr/>
        </p:nvSpPr>
        <p:spPr>
          <a:xfrm>
            <a:off x="2533650" y="2705100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7AFBB2-D7DB-4839-9EAE-439639C38E07}"/>
              </a:ext>
            </a:extLst>
          </p:cNvPr>
          <p:cNvSpPr>
            <a:spLocks noGrp="1"/>
          </p:cNvSpPr>
          <p:nvPr/>
        </p:nvSpPr>
        <p:spPr>
          <a:xfrm>
            <a:off x="2752725" y="27051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55" name="Straight Arrow Connector 54"/>
          <p:cNvCxnSpPr>
            <a:stCxn id="9" idx="3"/>
            <a:endCxn id="10" idx="1"/>
          </p:cNvCxnSpPr>
          <p:nvPr/>
        </p:nvCxnSpPr>
        <p:spPr>
          <a:xfrm>
            <a:off x="2543175" y="2709863"/>
            <a:ext cx="209550" cy="0"/>
          </a:xfrm>
          <a:prstGeom prst="straightConnector1">
            <a:avLst/>
          </a:prstGeom>
          <a:ln w="19050">
            <a:solidFill>
              <a:srgbClr val="F3B33D"/>
            </a:solidFill>
            <a:prstDash val="solid"/>
            <a:tailEnd type="arrow" w="sm" len="sm"/>
          </a:ln>
        </p:spPr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F6C3F8E-5052-443C-958F-96D17A71C2A1}"/>
              </a:ext>
            </a:extLst>
          </p:cNvPr>
          <p:cNvSpPr>
            <a:spLocks noGrp="1"/>
          </p:cNvSpPr>
          <p:nvPr/>
        </p:nvSpPr>
        <p:spPr>
          <a:xfrm>
            <a:off x="2905125" y="1952625"/>
            <a:ext cx="17526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8E4EE"/>
            </a:solidFill>
          </a:ln>
        </p:spPr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AB0D197-0A2C-41EC-9A26-5F50ABA34E25}"/>
              </a:ext>
            </a:extLst>
          </p:cNvPr>
          <p:cNvSpPr>
            <a:spLocks noGrp="1"/>
          </p:cNvSpPr>
          <p:nvPr/>
        </p:nvSpPr>
        <p:spPr>
          <a:xfrm>
            <a:off x="3524250" y="1714500"/>
            <a:ext cx="514350" cy="514350"/>
          </a:xfrm>
          <a:prstGeom prst="ellipse">
            <a:avLst/>
          </a:prstGeom>
          <a:solidFill>
            <a:srgbClr val="0B4F8A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4FE91CA-792D-43C1-B152-8E115B740BCB}"/>
              </a:ext>
            </a:extLst>
          </p:cNvPr>
          <p:cNvSpPr>
            <a:spLocks noGrp="1"/>
          </p:cNvSpPr>
          <p:nvPr/>
        </p:nvSpPr>
        <p:spPr>
          <a:xfrm>
            <a:off x="3524250" y="1838325"/>
            <a:ext cx="5143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7DE3B0-8F28-42D5-82C7-A2BAE8727B95}"/>
              </a:ext>
            </a:extLst>
          </p:cNvPr>
          <p:cNvSpPr>
            <a:spLocks noGrp="1"/>
          </p:cNvSpPr>
          <p:nvPr/>
        </p:nvSpPr>
        <p:spPr>
          <a:xfrm>
            <a:off x="3076575" y="2428875"/>
            <a:ext cx="14097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Sense motion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667B46-B8A8-4682-BFE0-0F37963D2C36}"/>
              </a:ext>
            </a:extLst>
          </p:cNvPr>
          <p:cNvSpPr>
            <a:spLocks noGrp="1"/>
          </p:cNvSpPr>
          <p:nvPr/>
        </p:nvSpPr>
        <p:spPr>
          <a:xfrm>
            <a:off x="3048000" y="2800350"/>
            <a:ext cx="1466850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12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PIR module outputs M = 1 when motion is detected in its field of view.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48E69F5-9C7C-47DE-A176-63A615AB8CC9}"/>
              </a:ext>
            </a:extLst>
          </p:cNvPr>
          <p:cNvSpPr>
            <a:spLocks noGrp="1"/>
          </p:cNvSpPr>
          <p:nvPr/>
        </p:nvSpPr>
        <p:spPr>
          <a:xfrm>
            <a:off x="4724400" y="2705100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7DD864-9D11-4A5F-AED8-6ED98AB3DE9F}"/>
              </a:ext>
            </a:extLst>
          </p:cNvPr>
          <p:cNvSpPr>
            <a:spLocks noGrp="1"/>
          </p:cNvSpPr>
          <p:nvPr/>
        </p:nvSpPr>
        <p:spPr>
          <a:xfrm>
            <a:off x="4943475" y="27051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63" name="Straight Arrow Connector 62"/>
          <p:cNvCxnSpPr>
            <a:stCxn id="17" idx="3"/>
            <a:endCxn id="18" idx="1"/>
          </p:cNvCxnSpPr>
          <p:nvPr/>
        </p:nvCxnSpPr>
        <p:spPr>
          <a:xfrm>
            <a:off x="4733925" y="2709863"/>
            <a:ext cx="209550" cy="0"/>
          </a:xfrm>
          <a:prstGeom prst="straightConnector1">
            <a:avLst/>
          </a:prstGeom>
          <a:ln w="19050">
            <a:solidFill>
              <a:srgbClr val="F3B33D"/>
            </a:solidFill>
            <a:prstDash val="solid"/>
            <a:tailEnd type="arrow" w="sm" len="sm"/>
          </a:ln>
        </p:spPr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0AFCEC9-F656-47A8-BDDE-940EE3F64BEF}"/>
              </a:ext>
            </a:extLst>
          </p:cNvPr>
          <p:cNvSpPr>
            <a:spLocks noGrp="1"/>
          </p:cNvSpPr>
          <p:nvPr/>
        </p:nvSpPr>
        <p:spPr>
          <a:xfrm>
            <a:off x="5095875" y="1952625"/>
            <a:ext cx="17526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8E4EE"/>
            </a:solidFill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D122165-D48B-431E-8FAC-64AE22BEBF6C}"/>
              </a:ext>
            </a:extLst>
          </p:cNvPr>
          <p:cNvSpPr>
            <a:spLocks noGrp="1"/>
          </p:cNvSpPr>
          <p:nvPr/>
        </p:nvSpPr>
        <p:spPr>
          <a:xfrm>
            <a:off x="5715000" y="1714500"/>
            <a:ext cx="514350" cy="514350"/>
          </a:xfrm>
          <a:prstGeom prst="ellipse">
            <a:avLst/>
          </a:prstGeom>
          <a:solidFill>
            <a:srgbClr val="0B4F8A"/>
          </a:solidFill>
          <a:ln w="0">
            <a:noFill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727DADC-9CF6-4D51-9D6D-6BB81AE3F928}"/>
              </a:ext>
            </a:extLst>
          </p:cNvPr>
          <p:cNvSpPr>
            <a:spLocks noGrp="1"/>
          </p:cNvSpPr>
          <p:nvPr/>
        </p:nvSpPr>
        <p:spPr>
          <a:xfrm>
            <a:off x="5715000" y="1838325"/>
            <a:ext cx="5143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64B139-1950-4179-9094-AC2C5BBAAD9E}"/>
              </a:ext>
            </a:extLst>
          </p:cNvPr>
          <p:cNvSpPr>
            <a:spLocks noGrp="1"/>
          </p:cNvSpPr>
          <p:nvPr/>
        </p:nvSpPr>
        <p:spPr>
          <a:xfrm>
            <a:off x="5267325" y="2428875"/>
            <a:ext cx="14097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Apply logic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23E32F0-A019-4463-B429-5819749EFCF8}"/>
              </a:ext>
            </a:extLst>
          </p:cNvPr>
          <p:cNvSpPr>
            <a:spLocks noGrp="1"/>
          </p:cNvSpPr>
          <p:nvPr/>
        </p:nvSpPr>
        <p:spPr>
          <a:xfrm>
            <a:off x="5238750" y="2800350"/>
            <a:ext cx="1466850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12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An AND gate computes L = D · M from the present input states.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AF859FD-2B52-401A-8909-505BD26CD262}"/>
              </a:ext>
            </a:extLst>
          </p:cNvPr>
          <p:cNvSpPr>
            <a:spLocks noGrp="1"/>
          </p:cNvSpPr>
          <p:nvPr/>
        </p:nvSpPr>
        <p:spPr>
          <a:xfrm>
            <a:off x="6915150" y="2705100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C33A59C-512A-477C-9FA6-3E0388AC4476}"/>
              </a:ext>
            </a:extLst>
          </p:cNvPr>
          <p:cNvSpPr>
            <a:spLocks noGrp="1"/>
          </p:cNvSpPr>
          <p:nvPr/>
        </p:nvSpPr>
        <p:spPr>
          <a:xfrm>
            <a:off x="7134225" y="27051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1" name="Straight Arrow Connector 70"/>
          <p:cNvCxnSpPr>
            <a:stCxn id="25" idx="3"/>
            <a:endCxn id="26" idx="1"/>
          </p:cNvCxnSpPr>
          <p:nvPr/>
        </p:nvCxnSpPr>
        <p:spPr>
          <a:xfrm>
            <a:off x="6924675" y="2709863"/>
            <a:ext cx="209550" cy="0"/>
          </a:xfrm>
          <a:prstGeom prst="straightConnector1">
            <a:avLst/>
          </a:prstGeom>
          <a:ln w="19050">
            <a:solidFill>
              <a:srgbClr val="F3B33D"/>
            </a:solidFill>
            <a:prstDash val="solid"/>
            <a:tailEnd type="arrow" w="sm" len="sm"/>
          </a:ln>
        </p:spPr>
      </p:cxn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D23F315-E6FA-45B3-BE33-71FD100DE70A}"/>
              </a:ext>
            </a:extLst>
          </p:cNvPr>
          <p:cNvSpPr>
            <a:spLocks noGrp="1"/>
          </p:cNvSpPr>
          <p:nvPr/>
        </p:nvSpPr>
        <p:spPr>
          <a:xfrm>
            <a:off x="7286625" y="1952625"/>
            <a:ext cx="17526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8E4EE"/>
            </a:solidFill>
          </a:ln>
        </p:spPr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57189E8-2F61-4810-8C84-B7649AD22A7E}"/>
              </a:ext>
            </a:extLst>
          </p:cNvPr>
          <p:cNvSpPr>
            <a:spLocks noGrp="1"/>
          </p:cNvSpPr>
          <p:nvPr/>
        </p:nvSpPr>
        <p:spPr>
          <a:xfrm>
            <a:off x="7905750" y="1714500"/>
            <a:ext cx="514350" cy="514350"/>
          </a:xfrm>
          <a:prstGeom prst="ellipse">
            <a:avLst/>
          </a:prstGeom>
          <a:solidFill>
            <a:srgbClr val="0B4F8A"/>
          </a:solidFill>
          <a:ln w="0">
            <a:noFill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CF532F8-B492-4525-9186-8278B0498385}"/>
              </a:ext>
            </a:extLst>
          </p:cNvPr>
          <p:cNvSpPr>
            <a:spLocks noGrp="1"/>
          </p:cNvSpPr>
          <p:nvPr/>
        </p:nvSpPr>
        <p:spPr>
          <a:xfrm>
            <a:off x="7905750" y="1838325"/>
            <a:ext cx="5143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52E70AB-1CA8-42BF-A9F8-A9681BB30631}"/>
              </a:ext>
            </a:extLst>
          </p:cNvPr>
          <p:cNvSpPr>
            <a:spLocks noGrp="1"/>
          </p:cNvSpPr>
          <p:nvPr/>
        </p:nvSpPr>
        <p:spPr>
          <a:xfrm>
            <a:off x="7458075" y="2428875"/>
            <a:ext cx="14097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Switch lamp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FA404FE-DAB9-42EF-92D8-67EA18E54C82}"/>
              </a:ext>
            </a:extLst>
          </p:cNvPr>
          <p:cNvSpPr>
            <a:spLocks noGrp="1"/>
          </p:cNvSpPr>
          <p:nvPr/>
        </p:nvSpPr>
        <p:spPr>
          <a:xfrm>
            <a:off x="7429500" y="2800350"/>
            <a:ext cx="1466850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12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The driver stage energizes a relay or MOSFET to supply the LED lamp.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12C4BC5-5D96-420A-870E-11D1B6C9B618}"/>
              </a:ext>
            </a:extLst>
          </p:cNvPr>
          <p:cNvSpPr>
            <a:spLocks noGrp="1"/>
          </p:cNvSpPr>
          <p:nvPr/>
        </p:nvSpPr>
        <p:spPr>
          <a:xfrm>
            <a:off x="9105900" y="2705100"/>
            <a:ext cx="9525" cy="9525"/>
          </a:xfrm>
          <a:prstGeom prst="rect">
            <a:avLst/>
          </a:prstGeom>
          <a:noFill/>
          <a:ln w="0">
            <a:noFill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4B753E8-DC24-4DB5-A312-57E96A9ADAF7}"/>
              </a:ext>
            </a:extLst>
          </p:cNvPr>
          <p:cNvSpPr>
            <a:spLocks noGrp="1"/>
          </p:cNvSpPr>
          <p:nvPr/>
        </p:nvSpPr>
        <p:spPr>
          <a:xfrm>
            <a:off x="9324975" y="2705100"/>
            <a:ext cx="9525" cy="9525"/>
          </a:xfrm>
          <a:prstGeom prst="rect">
            <a:avLst/>
          </a:prstGeom>
          <a:noFill/>
          <a:ln w="0">
            <a:noFill/>
          </a:ln>
        </p:spPr>
      </p:sp>
      <p:cxnSp>
        <p:nvCxnSpPr>
          <p:cNvPr id="79" name="Straight Arrow Connector 78"/>
          <p:cNvCxnSpPr>
            <a:stCxn id="33" idx="3"/>
            <a:endCxn id="34" idx="1"/>
          </p:cNvCxnSpPr>
          <p:nvPr/>
        </p:nvCxnSpPr>
        <p:spPr>
          <a:xfrm>
            <a:off x="9115425" y="2709863"/>
            <a:ext cx="209550" cy="0"/>
          </a:xfrm>
          <a:prstGeom prst="straightConnector1">
            <a:avLst/>
          </a:prstGeom>
          <a:ln w="19050">
            <a:solidFill>
              <a:srgbClr val="F3B33D"/>
            </a:solidFill>
            <a:prstDash val="solid"/>
            <a:tailEnd type="arrow" w="sm" len="sm"/>
          </a:ln>
        </p:spPr>
      </p:cxn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E11E21A-3AD8-423D-8E08-44D764338B17}"/>
              </a:ext>
            </a:extLst>
          </p:cNvPr>
          <p:cNvSpPr>
            <a:spLocks noGrp="1"/>
          </p:cNvSpPr>
          <p:nvPr/>
        </p:nvSpPr>
        <p:spPr>
          <a:xfrm>
            <a:off x="9477375" y="1952625"/>
            <a:ext cx="1752600" cy="175260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9525">
            <a:solidFill>
              <a:srgbClr val="D8E4EE"/>
            </a:solidFill>
          </a:ln>
        </p:spPr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D7316CD8-2AA3-4A2A-85BF-5108F6AD7487}"/>
              </a:ext>
            </a:extLst>
          </p:cNvPr>
          <p:cNvSpPr>
            <a:spLocks noGrp="1"/>
          </p:cNvSpPr>
          <p:nvPr/>
        </p:nvSpPr>
        <p:spPr>
          <a:xfrm>
            <a:off x="10096500" y="1714500"/>
            <a:ext cx="514350" cy="514350"/>
          </a:xfrm>
          <a:prstGeom prst="ellipse">
            <a:avLst/>
          </a:prstGeom>
          <a:solidFill>
            <a:srgbClr val="F3B33D"/>
          </a:solidFill>
          <a:ln w="0">
            <a:noFill/>
          </a:ln>
        </p:spPr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49A1A6-11CA-46FC-8C9C-EFEBA514077E}"/>
              </a:ext>
            </a:extLst>
          </p:cNvPr>
          <p:cNvSpPr>
            <a:spLocks noGrp="1"/>
          </p:cNvSpPr>
          <p:nvPr/>
        </p:nvSpPr>
        <p:spPr>
          <a:xfrm>
            <a:off x="10096500" y="1838325"/>
            <a:ext cx="51435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482F41-820A-4AD0-82A0-C775229212EB}"/>
              </a:ext>
            </a:extLst>
          </p:cNvPr>
          <p:cNvSpPr>
            <a:spLocks noGrp="1"/>
          </p:cNvSpPr>
          <p:nvPr/>
        </p:nvSpPr>
        <p:spPr>
          <a:xfrm>
            <a:off x="9648825" y="2428875"/>
            <a:ext cx="1409700" cy="2381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425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Test cases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2418B6E-25CE-4F82-AC82-8E1118AB051B}"/>
              </a:ext>
            </a:extLst>
          </p:cNvPr>
          <p:cNvSpPr>
            <a:spLocks noGrp="1"/>
          </p:cNvSpPr>
          <p:nvPr/>
        </p:nvSpPr>
        <p:spPr>
          <a:xfrm>
            <a:off x="9620250" y="2800350"/>
            <a:ext cx="1466850" cy="704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12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Vary daylight, darkness, and motion conditions and compare outputs with the truth table.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C4DADDB-38D5-42B1-946F-DF7255669C53}"/>
              </a:ext>
            </a:extLst>
          </p:cNvPr>
          <p:cNvSpPr>
            <a:spLocks noGrp="1"/>
          </p:cNvSpPr>
          <p:nvPr/>
        </p:nvSpPr>
        <p:spPr>
          <a:xfrm>
            <a:off x="723900" y="4762500"/>
            <a:ext cx="105727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Core hardware: LDR, resistor divider, comparator, PIR sensor, AND gate, driver transistor, flyback diode, relay/MOSFET, LED lamp, and regulated power supply.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D1EFA99-C2D0-4349-95CD-49551F779501}"/>
              </a:ext>
            </a:extLst>
          </p:cNvPr>
          <p:cNvSpPr>
            <a:spLocks noGrp="1"/>
          </p:cNvSpPr>
          <p:nvPr/>
        </p:nvSpPr>
        <p:spPr>
          <a:xfrm>
            <a:off x="1428750" y="5715000"/>
            <a:ext cx="9334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350" b="1">
                <a:solidFill>
                  <a:srgbClr val="B955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554D"/>
                </a:solidFill>
                <a:latin typeface="Aptos"/>
                <a:ea typeface="Aptos"/>
                <a:cs typeface="Aptos"/>
              </a:rPr>
              <a:t>For a prototype, test the low-voltage control circuit before connecting any mains-powered lamp.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E41BF54-2448-42E4-9412-3D895ABF0BDF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Automated Streetlight Control System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DD0A88D-8140-4B1A-82A0-1D43376AA68A}"/>
              </a:ext>
            </a:extLst>
          </p:cNvPr>
          <p:cNvSpPr>
            <a:spLocks noGrp="1"/>
          </p:cNvSpPr>
          <p:nvPr/>
        </p:nvSpPr>
        <p:spPr>
          <a:xfrm>
            <a:off x="10991850" y="6438900"/>
            <a:ext cx="5143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493017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120D1B8-ADE7-4D26-ACD0-CE259D407793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9048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550" b="1">
                <a:solidFill>
                  <a:srgbClr val="071A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71A33"/>
                </a:solidFill>
                <a:latin typeface="Aptos"/>
                <a:ea typeface="Aptos"/>
                <a:cs typeface="Aptos"/>
              </a:rPr>
              <a:t>Results and Discussion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AE76D5-3573-4FEC-9D3B-3BA06461B0C3}"/>
              </a:ext>
            </a:extLst>
          </p:cNvPr>
          <p:cNvSpPr>
            <a:spLocks noGrp="1"/>
          </p:cNvSpPr>
          <p:nvPr/>
        </p:nvSpPr>
        <p:spPr>
          <a:xfrm>
            <a:off x="11049000" y="457200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BBD5DD-2FD9-4205-88D2-1932DB217220}"/>
              </a:ext>
            </a:extLst>
          </p:cNvPr>
          <p:cNvSpPr>
            <a:spLocks noGrp="1"/>
          </p:cNvSpPr>
          <p:nvPr/>
        </p:nvSpPr>
        <p:spPr>
          <a:xfrm>
            <a:off x="685800" y="1066800"/>
            <a:ext cx="10820400" cy="38100"/>
          </a:xfrm>
          <a:prstGeom prst="rect">
            <a:avLst/>
          </a:prstGeom>
          <a:solidFill>
            <a:srgbClr val="F3B33D"/>
          </a:solidFill>
          <a:ln w="0">
            <a:noFill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0F3A60-0FA7-46AD-A652-FB676F0BFD39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809625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650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Expected controller output for the four possible combinations of the digital sensor inputs.</a:t>
            </a:r>
          </a:p>
        </p:txBody>
      </p:sp>
      <p:graphicFrame>
        <p:nvGraphicFramePr>
          <p:cNvPr id="17" name="Table 16"/>
          <p:cNvGraphicFramePr/>
          <p:nvPr/>
        </p:nvGraphicFramePr>
        <p:xfrm>
          <a:off x="685800" y="2095500"/>
          <a:ext cx="6667500" cy="2476500"/>
        </p:xfrm>
        <a:graphic>
          <a:graphicData uri="http://schemas.openxmlformats.org/drawingml/2006/table">
            <a:tbl>
              <a:tblPr firstRow="1" bandRow="1"/>
              <a:tblGrid>
                <a:gridCol w="166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Darkness D</a:t>
                      </a:r>
                    </a:p>
                  </a:txBody>
                  <a:tcPr>
                    <a:solidFill>
                      <a:srgbClr val="07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Motion M</a:t>
                      </a:r>
                    </a:p>
                  </a:txBody>
                  <a:tcPr>
                    <a:solidFill>
                      <a:srgbClr val="07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 = D · M</a:t>
                      </a:r>
                    </a:p>
                  </a:txBody>
                  <a:tcPr>
                    <a:solidFill>
                      <a:srgbClr val="071A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Lamp state</a:t>
                      </a:r>
                    </a:p>
                  </a:txBody>
                  <a:tcPr>
                    <a:solidFill>
                      <a:srgbClr val="071A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238"/>
                          </a:solidFill>
                          <a:latin typeface="Aptos"/>
                          <a:ea typeface="Aptos"/>
                          <a:cs typeface="Aptos"/>
                        </a:rPr>
                        <a:t>0 Daylight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238"/>
                          </a:solidFill>
                          <a:latin typeface="Aptos"/>
                          <a:ea typeface="Aptos"/>
                          <a:cs typeface="Aptos"/>
                        </a:rPr>
                        <a:t>0 No 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238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238"/>
                          </a:solidFill>
                          <a:latin typeface="Aptos"/>
                          <a:ea typeface="Aptos"/>
                          <a:cs typeface="Aptos"/>
                        </a:rPr>
                        <a:t>OFF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238"/>
                          </a:solidFill>
                          <a:latin typeface="Aptos"/>
                          <a:ea typeface="Aptos"/>
                          <a:cs typeface="Aptos"/>
                        </a:rPr>
                        <a:t>0 Daylight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238"/>
                          </a:solidFill>
                          <a:latin typeface="Aptos"/>
                          <a:ea typeface="Aptos"/>
                          <a:cs typeface="Aptos"/>
                        </a:rPr>
                        <a:t>1 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238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238"/>
                          </a:solidFill>
                          <a:latin typeface="Aptos"/>
                          <a:ea typeface="Aptos"/>
                          <a:cs typeface="Aptos"/>
                        </a:rPr>
                        <a:t>OFF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238"/>
                          </a:solidFill>
                          <a:latin typeface="Aptos"/>
                          <a:ea typeface="Aptos"/>
                          <a:cs typeface="Aptos"/>
                        </a:rPr>
                        <a:t>1 Dark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238"/>
                          </a:solidFill>
                          <a:latin typeface="Aptos"/>
                          <a:ea typeface="Aptos"/>
                          <a:cs typeface="Aptos"/>
                        </a:rPr>
                        <a:t>0 No 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238"/>
                          </a:solidFill>
                          <a:latin typeface="Aptos"/>
                          <a:ea typeface="Aptos"/>
                          <a:cs typeface="Aptos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238"/>
                          </a:solidFill>
                          <a:latin typeface="Aptos"/>
                          <a:ea typeface="Aptos"/>
                          <a:cs typeface="Aptos"/>
                        </a:rPr>
                        <a:t>OFF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238"/>
                          </a:solidFill>
                          <a:latin typeface="Aptos"/>
                          <a:ea typeface="Aptos"/>
                          <a:cs typeface="Aptos"/>
                        </a:rPr>
                        <a:t>1 Dark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238"/>
                          </a:solidFill>
                          <a:latin typeface="Aptos"/>
                          <a:ea typeface="Aptos"/>
                          <a:cs typeface="Aptos"/>
                        </a:rPr>
                        <a:t>1 Motion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42238"/>
                          </a:solidFill>
                          <a:latin typeface="Aptos"/>
                          <a:ea typeface="Aptos"/>
                          <a:cs typeface="Aptos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7683C"/>
                          </a:solidFill>
                          <a:latin typeface="Aptos"/>
                          <a:ea typeface="Aptos"/>
                          <a:cs typeface="Aptos"/>
                        </a:rPr>
                        <a:t>ON</a:t>
                      </a:r>
                    </a:p>
                  </a:txBody>
                  <a:tcPr>
                    <a:solidFill>
                      <a:srgbClr val="D9F0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D6B8E44-8A87-4E64-905C-659B097D7948}"/>
              </a:ext>
            </a:extLst>
          </p:cNvPr>
          <p:cNvSpPr>
            <a:spLocks noGrp="1"/>
          </p:cNvSpPr>
          <p:nvPr/>
        </p:nvSpPr>
        <p:spPr>
          <a:xfrm>
            <a:off x="8096250" y="2143125"/>
            <a:ext cx="2857500" cy="2400300"/>
          </a:xfrm>
          <a:prstGeom prst="roundRect">
            <a:avLst>
              <a:gd name="adj" fmla="val 3175"/>
            </a:avLst>
          </a:prstGeom>
          <a:solidFill>
            <a:srgbClr val="EAF5EF"/>
          </a:solidFill>
          <a:ln w="0">
            <a:noFill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C661B3-B2AD-40D6-8D6C-B543DE2DF405}"/>
              </a:ext>
            </a:extLst>
          </p:cNvPr>
          <p:cNvSpPr>
            <a:spLocks noGrp="1"/>
          </p:cNvSpPr>
          <p:nvPr/>
        </p:nvSpPr>
        <p:spPr>
          <a:xfrm>
            <a:off x="8362950" y="2457450"/>
            <a:ext cx="2333625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650" b="1">
                <a:solidFill>
                  <a:srgbClr val="3C966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C9665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066FC61-60D7-4B57-BF7E-3E45629A35FA}"/>
              </a:ext>
            </a:extLst>
          </p:cNvPr>
          <p:cNvSpPr>
            <a:spLocks noGrp="1"/>
          </p:cNvSpPr>
          <p:nvPr/>
        </p:nvSpPr>
        <p:spPr>
          <a:xfrm>
            <a:off x="8382000" y="3048000"/>
            <a:ext cx="2286000" cy="895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425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The output remains OFF in daylight, even when motion occurs. At night, motion enables the lamp command.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9B9A8A-310E-482A-A90B-383BCE59D954}"/>
              </a:ext>
            </a:extLst>
          </p:cNvPr>
          <p:cNvSpPr>
            <a:spLocks noGrp="1"/>
          </p:cNvSpPr>
          <p:nvPr/>
        </p:nvSpPr>
        <p:spPr>
          <a:xfrm>
            <a:off x="8382000" y="4048125"/>
            <a:ext cx="2286000" cy="247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200" b="1">
                <a:solidFill>
                  <a:srgbClr val="3C966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C9665"/>
                </a:solidFill>
                <a:latin typeface="Aptos"/>
                <a:ea typeface="Aptos"/>
                <a:cs typeface="Aptos"/>
              </a:rPr>
              <a:t>This verifies the Boolean expression L = D · M.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56E69DF-ADF0-4E2E-B274-3408AD67D0FA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096500" cy="43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Demonstration record: simulate or build the four input cases and capture the LED/relay output in the final prototype report.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23D09D-C7FD-45FD-880F-76A1610947B7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191000" cy="190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825" b="0">
                <a:solidFill>
                  <a:srgbClr val="5265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2657A"/>
                </a:solidFill>
                <a:latin typeface="Aptos"/>
                <a:ea typeface="Aptos"/>
                <a:cs typeface="Aptos"/>
              </a:rPr>
              <a:t>Automated Streetlight Control System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3829D5-FEAA-4F47-BDFF-5D40369A67A8}"/>
              </a:ext>
            </a:extLst>
          </p:cNvPr>
          <p:cNvSpPr>
            <a:spLocks noGrp="1"/>
          </p:cNvSpPr>
          <p:nvPr/>
        </p:nvSpPr>
        <p:spPr>
          <a:xfrm>
            <a:off x="10991850" y="6438900"/>
            <a:ext cx="514350" cy="209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900" b="1">
                <a:solidFill>
                  <a:srgbClr val="0B4F8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4F8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531726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9F4A0FE-58BE-4C93-ADBD-5BF7E3CCAD94}"/>
              </a:ext>
            </a:extLst>
          </p:cNvPr>
          <p:cNvSpPr>
            <a:spLocks noGrp="1"/>
          </p:cNvSpPr>
          <p:nvPr/>
        </p:nvSpPr>
        <p:spPr>
          <a:xfrm>
            <a:off x="685800" y="704850"/>
            <a:ext cx="76200" cy="1123950"/>
          </a:xfrm>
          <a:prstGeom prst="rect">
            <a:avLst/>
          </a:prstGeom>
          <a:solidFill>
            <a:srgbClr val="F3B33D"/>
          </a:solidFill>
          <a:ln w="0">
            <a:noFill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C64D68-A8AF-4C45-826C-B25CF79DB889}"/>
              </a:ext>
            </a:extLst>
          </p:cNvPr>
          <p:cNvSpPr>
            <a:spLocks noGrp="1"/>
          </p:cNvSpPr>
          <p:nvPr/>
        </p:nvSpPr>
        <p:spPr>
          <a:xfrm>
            <a:off x="990600" y="723900"/>
            <a:ext cx="476250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80B602-F19A-4614-AD92-E624067C85F8}"/>
              </a:ext>
            </a:extLst>
          </p:cNvPr>
          <p:cNvSpPr>
            <a:spLocks noGrp="1"/>
          </p:cNvSpPr>
          <p:nvPr/>
        </p:nvSpPr>
        <p:spPr>
          <a:xfrm>
            <a:off x="990600" y="1504950"/>
            <a:ext cx="819150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800" b="0">
                <a:solidFill>
                  <a:srgbClr val="C9E7F8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C9E7F8"/>
                </a:solidFill>
                <a:latin typeface="Aptos"/>
                <a:ea typeface="Aptos"/>
                <a:cs typeface="Aptos"/>
              </a:rPr>
              <a:t>The project demonstrates a practical application of combinational logic in an embedded streetlight controller.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EFD359F-AC66-4BC9-8AC6-7A78092440EF}"/>
              </a:ext>
            </a:extLst>
          </p:cNvPr>
          <p:cNvSpPr>
            <a:spLocks noGrp="1"/>
          </p:cNvSpPr>
          <p:nvPr/>
        </p:nvSpPr>
        <p:spPr>
          <a:xfrm>
            <a:off x="1028700" y="2524125"/>
            <a:ext cx="114300" cy="114300"/>
          </a:xfrm>
          <a:prstGeom prst="ellipse">
            <a:avLst/>
          </a:prstGeom>
          <a:solidFill>
            <a:srgbClr val="F3B33D"/>
          </a:solidFill>
          <a:ln w="0">
            <a:noFill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5C6821-6060-4824-BA0F-F991F3130B1B}"/>
              </a:ext>
            </a:extLst>
          </p:cNvPr>
          <p:cNvSpPr>
            <a:spLocks noGrp="1"/>
          </p:cNvSpPr>
          <p:nvPr/>
        </p:nvSpPr>
        <p:spPr>
          <a:xfrm>
            <a:off x="1390650" y="2476500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Darkness detection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CF099D-08A6-40B0-AB0B-2D6B4A87FDC9}"/>
              </a:ext>
            </a:extLst>
          </p:cNvPr>
          <p:cNvSpPr>
            <a:spLocks noGrp="1"/>
          </p:cNvSpPr>
          <p:nvPr/>
        </p:nvSpPr>
        <p:spPr>
          <a:xfrm>
            <a:off x="4333875" y="2476500"/>
            <a:ext cx="60960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D7EA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AF5"/>
                </a:solidFill>
                <a:latin typeface="Aptos"/>
                <a:ea typeface="Aptos"/>
                <a:cs typeface="Aptos"/>
              </a:rPr>
              <a:t>The LDR and comparator provide a reliable digital light condition input.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6A0FDD7-8510-417B-8961-F2560B337930}"/>
              </a:ext>
            </a:extLst>
          </p:cNvPr>
          <p:cNvSpPr>
            <a:spLocks noGrp="1"/>
          </p:cNvSpPr>
          <p:nvPr/>
        </p:nvSpPr>
        <p:spPr>
          <a:xfrm>
            <a:off x="1028700" y="3267075"/>
            <a:ext cx="114300" cy="114300"/>
          </a:xfrm>
          <a:prstGeom prst="ellipse">
            <a:avLst/>
          </a:prstGeom>
          <a:solidFill>
            <a:srgbClr val="F3B33D"/>
          </a:solidFill>
          <a:ln w="0">
            <a:noFill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277F01-DAE2-4A54-B733-F135DC01FC8F}"/>
              </a:ext>
            </a:extLst>
          </p:cNvPr>
          <p:cNvSpPr>
            <a:spLocks noGrp="1"/>
          </p:cNvSpPr>
          <p:nvPr/>
        </p:nvSpPr>
        <p:spPr>
          <a:xfrm>
            <a:off x="1390650" y="3219450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Motion-based control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50CFF0-C01B-4784-BFF1-DA2624A6F1AF}"/>
              </a:ext>
            </a:extLst>
          </p:cNvPr>
          <p:cNvSpPr>
            <a:spLocks noGrp="1"/>
          </p:cNvSpPr>
          <p:nvPr/>
        </p:nvSpPr>
        <p:spPr>
          <a:xfrm>
            <a:off x="4333875" y="3219450"/>
            <a:ext cx="60960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D7EA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AF5"/>
                </a:solidFill>
                <a:latin typeface="Aptos"/>
                <a:ea typeface="Aptos"/>
                <a:cs typeface="Aptos"/>
              </a:rPr>
              <a:t>The PIR sensor prevents lamp activation when the road is inactive.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4E65E93-84CD-4FB2-8AC8-F9AF14BAB6F4}"/>
              </a:ext>
            </a:extLst>
          </p:cNvPr>
          <p:cNvSpPr>
            <a:spLocks noGrp="1"/>
          </p:cNvSpPr>
          <p:nvPr/>
        </p:nvSpPr>
        <p:spPr>
          <a:xfrm>
            <a:off x="1028700" y="4010025"/>
            <a:ext cx="114300" cy="114300"/>
          </a:xfrm>
          <a:prstGeom prst="ellipse">
            <a:avLst/>
          </a:prstGeom>
          <a:solidFill>
            <a:srgbClr val="F3B33D"/>
          </a:solidFill>
          <a:ln w="0">
            <a:noFill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1B8665-9429-4A22-93E9-05C6A5D58A5C}"/>
              </a:ext>
            </a:extLst>
          </p:cNvPr>
          <p:cNvSpPr>
            <a:spLocks noGrp="1"/>
          </p:cNvSpPr>
          <p:nvPr/>
        </p:nvSpPr>
        <p:spPr>
          <a:xfrm>
            <a:off x="1390650" y="3962400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Clear logic behaviour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CC0B23-0851-4E43-8086-DC70209D2572}"/>
              </a:ext>
            </a:extLst>
          </p:cNvPr>
          <p:cNvSpPr>
            <a:spLocks noGrp="1"/>
          </p:cNvSpPr>
          <p:nvPr/>
        </p:nvSpPr>
        <p:spPr>
          <a:xfrm>
            <a:off x="4333875" y="3962400"/>
            <a:ext cx="60960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D7EA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AF5"/>
                </a:solidFill>
                <a:latin typeface="Aptos"/>
                <a:ea typeface="Aptos"/>
                <a:cs typeface="Aptos"/>
              </a:rPr>
              <a:t>The AND expression L = D · M maps each sensor state to a predictable output.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7B52904-C531-4B03-95B0-7324F02DE418}"/>
              </a:ext>
            </a:extLst>
          </p:cNvPr>
          <p:cNvSpPr>
            <a:spLocks noGrp="1"/>
          </p:cNvSpPr>
          <p:nvPr/>
        </p:nvSpPr>
        <p:spPr>
          <a:xfrm>
            <a:off x="1028700" y="4752975"/>
            <a:ext cx="114300" cy="114300"/>
          </a:xfrm>
          <a:prstGeom prst="ellipse">
            <a:avLst/>
          </a:prstGeom>
          <a:solidFill>
            <a:srgbClr val="F3B33D"/>
          </a:solidFill>
          <a:ln w="0">
            <a:noFill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291C5D-0569-4E4D-B0AD-038B748A2E0A}"/>
              </a:ext>
            </a:extLst>
          </p:cNvPr>
          <p:cNvSpPr>
            <a:spLocks noGrp="1"/>
          </p:cNvSpPr>
          <p:nvPr/>
        </p:nvSpPr>
        <p:spPr>
          <a:xfrm>
            <a:off x="1390650" y="4705350"/>
            <a:ext cx="28575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Safe expansion path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855B2D8-1C5C-49E7-BED0-FF73BE8F5CA2}"/>
              </a:ext>
            </a:extLst>
          </p:cNvPr>
          <p:cNvSpPr>
            <a:spLocks noGrp="1"/>
          </p:cNvSpPr>
          <p:nvPr/>
        </p:nvSpPr>
        <p:spPr>
          <a:xfrm>
            <a:off x="4333875" y="4705350"/>
            <a:ext cx="609600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350" b="0">
                <a:solidFill>
                  <a:srgbClr val="D7EAF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EAF5"/>
                </a:solidFill>
                <a:latin typeface="Aptos"/>
                <a:ea typeface="Aptos"/>
                <a:cs typeface="Aptos"/>
              </a:rPr>
              <a:t>A suitable driver stage allows the design to interface with an LED streetlight.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836AAA-49D2-4FD4-A008-C5DBD9B40B0D}"/>
              </a:ext>
            </a:extLst>
          </p:cNvPr>
          <p:cNvSpPr>
            <a:spLocks noGrp="1"/>
          </p:cNvSpPr>
          <p:nvPr/>
        </p:nvSpPr>
        <p:spPr>
          <a:xfrm>
            <a:off x="990600" y="5753100"/>
            <a:ext cx="88582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>
              <a:defRPr sz="1500" b="1">
                <a:solidFill>
                  <a:srgbClr val="F3B33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3B33D"/>
                </a:solidFill>
                <a:latin typeface="Aptos"/>
                <a:ea typeface="Aptos"/>
                <a:cs typeface="Aptos"/>
              </a:rPr>
              <a:t>Objectives fulfilled: sensing, logic control, output switching design, and truth-table verification.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7C322CE-5CBA-46BF-9331-1664B7480457}"/>
              </a:ext>
            </a:extLst>
          </p:cNvPr>
          <p:cNvSpPr>
            <a:spLocks noGrp="1"/>
          </p:cNvSpPr>
          <p:nvPr/>
        </p:nvSpPr>
        <p:spPr>
          <a:xfrm>
            <a:off x="10001250" y="609600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275" b="0">
                <a:solidFill>
                  <a:srgbClr val="A6D7F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A6D7F5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060043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1103</Words>
  <Application>Microsoft Office PowerPoint</Application>
  <DocSecurity>0</DocSecurity>
  <PresentationFormat>Widescreen</PresentationFormat>
  <Paragraphs>177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Jai Deep</cp:lastModifiedBy>
  <cp:revision>1</cp:revision>
  <dcterms:created xsi:type="dcterms:W3CDTF">2026-09-11T14:45:02Z</dcterms:created>
  <dcterms:modified xsi:type="dcterms:W3CDTF">2026-09-11T15:38:22Z</dcterms:modified>
</cp:coreProperties>
</file>